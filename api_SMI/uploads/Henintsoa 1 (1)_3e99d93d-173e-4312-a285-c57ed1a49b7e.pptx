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5450" r:id="rId1"/>
  </p:sldMasterIdLst>
  <p:notesMasterIdLst>
    <p:notesMasterId r:id="rId16"/>
  </p:notesMasterIdLst>
  <p:sldIdLst>
    <p:sldId id="257" r:id="rId2"/>
    <p:sldId id="264" r:id="rId3"/>
    <p:sldId id="292" r:id="rId4"/>
    <p:sldId id="293" r:id="rId5"/>
    <p:sldId id="294" r:id="rId6"/>
    <p:sldId id="295" r:id="rId7"/>
    <p:sldId id="296" r:id="rId8"/>
    <p:sldId id="297" r:id="rId9"/>
    <p:sldId id="299" r:id="rId10"/>
    <p:sldId id="300" r:id="rId11"/>
    <p:sldId id="303" r:id="rId12"/>
    <p:sldId id="304" r:id="rId13"/>
    <p:sldId id="305" r:id="rId14"/>
    <p:sldId id="269" r:id="rId1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ompte Microsoft" initials="CM" lastIdx="1" clrIdx="0">
    <p:extLst>
      <p:ext uri="{19B8F6BF-5375-455C-9EA6-DF929625EA0E}">
        <p15:presenceInfo xmlns:p15="http://schemas.microsoft.com/office/powerpoint/2012/main" userId="830e54118435dcb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3B7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86" autoAdjust="0"/>
    <p:restoredTop sz="80610" autoAdjust="0"/>
  </p:normalViewPr>
  <p:slideViewPr>
    <p:cSldViewPr snapToGrid="0">
      <p:cViewPr varScale="1">
        <p:scale>
          <a:sx n="73" d="100"/>
          <a:sy n="73" d="100"/>
        </p:scale>
        <p:origin x="822" y="3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103F28-0AEE-456E-BADB-20D637982898}" type="datetimeFigureOut">
              <a:rPr lang="fr-FR" smtClean="0"/>
              <a:t>16/11/2025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DE8B9D-23D9-4A5A-B434-4AB0BB474BF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13999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Mesdames et Messieurs, chers membres de Jury, Honorable assistance, merci de m’avoir donner la parole. </a:t>
            </a:r>
          </a:p>
          <a:p>
            <a:r>
              <a:rPr lang="fr-F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Aujourd'hui, j’ai l’honneur de vous présenter ma mémoire de fin d’étude de licence en informatique option développement, qui s’intitule Digitalisation du processus de gestion des mission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DE8B9D-23D9-4A5A-B434-4AB0BB474BF8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20573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latin typeface="Calibri" panose="020F0502020204030204" pitchFamily="34" charset="0"/>
                <a:cs typeface="Times New Roman" panose="02020603050405020304" pitchFamily="18" charset="0"/>
              </a:rPr>
              <a:t>Pour mieux faire la présentation, nous allons suivre le plan suivant, Premièrement l’introduction, en suite le contexte du projet, après </a:t>
            </a:r>
            <a:r>
              <a:rPr lang="fr-FR" sz="1200" b="1" baseline="0" dirty="0">
                <a:latin typeface="Calibri" panose="020F0502020204030204" pitchFamily="34" charset="0"/>
                <a:cs typeface="Times New Roman" panose="02020603050405020304" pitchFamily="18" charset="0"/>
              </a:rPr>
              <a:t>les objectifs du projets</a:t>
            </a:r>
            <a:r>
              <a:rPr lang="fr-FR" sz="1200" b="1" dirty="0">
                <a:latin typeface="Calibri" panose="020F0502020204030204" pitchFamily="34" charset="0"/>
                <a:cs typeface="Times New Roman" panose="02020603050405020304" pitchFamily="18" charset="0"/>
              </a:rPr>
              <a:t>, après la</a:t>
            </a:r>
            <a:r>
              <a:rPr lang="fr-FR" sz="1200" b="1" baseline="0" dirty="0">
                <a:latin typeface="Calibri" panose="020F0502020204030204" pitchFamily="34" charset="0"/>
                <a:cs typeface="Times New Roman" panose="02020603050405020304" pitchFamily="18" charset="0"/>
              </a:rPr>
              <a:t> réalisation du projet, et avant de conclure nous verrons la démonstration de l’ application.</a:t>
            </a:r>
            <a:endParaRPr lang="fr-FR" sz="1200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DE8B9D-23D9-4A5A-B434-4AB0BB474BF8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38844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E3AC1-6449-9435-4498-2AF6CCCCA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E7B72CA-56DF-481E-D443-1323C6E9D7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B60A2F0-9731-27BD-C6B6-E6527A4E70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 dirty="0"/>
              <a:t>« Suite à un appel d’offre de l’État Malagasy, Ravinala Airports a été choisi pour moderniser et exploiter les aéroports d’Antananarivo et de </a:t>
            </a:r>
            <a:r>
              <a:rPr lang="fr-FR" b="1" dirty="0" err="1"/>
              <a:t>Nosy</a:t>
            </a:r>
            <a:r>
              <a:rPr lang="fr-FR" b="1" dirty="0"/>
              <a:t> Be.</a:t>
            </a:r>
            <a:br>
              <a:rPr lang="fr-FR" b="1" dirty="0"/>
            </a:br>
            <a:r>
              <a:rPr lang="fr-FR" b="1" dirty="0"/>
              <a:t>Son objectif d’ici 2027 : en faire des infrastructures modernes, efficaces et représentatives de l’hospitalité malagasy.</a:t>
            </a:r>
            <a:br>
              <a:rPr lang="fr-FR" b="1" dirty="0"/>
            </a:br>
            <a:r>
              <a:rPr lang="fr-FR" b="1" dirty="0"/>
              <a:t>Chaque jour, l’entreprise améliore les services, la sécurité et l’expérience passager, tout en soutenant le développement économique du pays.</a:t>
            </a:r>
            <a:br>
              <a:rPr lang="fr-FR" b="1" dirty="0"/>
            </a:br>
            <a:endParaRPr lang="fr-FR" b="1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103C7EC-C23D-5CF2-4E24-CEC5668829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DE8B9D-23D9-4A5A-B434-4AB0BB474BF8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75463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67B74-B06E-B6CC-0107-96181209A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C5F8B48-8335-A46A-1C98-F5256F628A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C83A401-1617-5803-BA72-1005DB81E7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1" dirty="0">
                <a:latin typeface="Calibri" panose="020F0502020204030204" pitchFamily="34" charset="0"/>
              </a:rPr>
              <a:t>Comment on a réalisé ce projet ? </a:t>
            </a:r>
          </a:p>
          <a:p>
            <a:r>
              <a:rPr lang="fr-FR" sz="1200" b="1" dirty="0">
                <a:latin typeface="Calibri" panose="020F0502020204030204" pitchFamily="34" charset="0"/>
              </a:rPr>
              <a:t>Préalablement à la réalisation,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b="1" dirty="0">
                <a:latin typeface="Calibri" panose="020F0502020204030204" pitchFamily="34" charset="0"/>
              </a:rPr>
              <a:t> il est important de comprendre au mieux le système que</a:t>
            </a:r>
            <a:r>
              <a:rPr lang="fr-FR" sz="1200" b="1" baseline="0" dirty="0">
                <a:latin typeface="Calibri" panose="020F0502020204030204" pitchFamily="34" charset="0"/>
              </a:rPr>
              <a:t> l’entreprise avait utilisé au paravent.</a:t>
            </a:r>
            <a:endParaRPr lang="fr-FR" sz="1200" b="1" dirty="0">
              <a:latin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b="1" dirty="0">
                <a:latin typeface="Calibri" panose="020F0502020204030204" pitchFamily="34" charset="0"/>
              </a:rPr>
              <a:t>afin notamment d'ajouter ou d’améliorer certaines fonctionnalités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b="1" dirty="0">
                <a:latin typeface="Calibri" panose="020F0502020204030204" pitchFamily="34" charset="0"/>
              </a:rPr>
              <a:t>permettant de mettre à jour de manière plus efficace les besoins ceux de l'utilisateur direct. </a:t>
            </a: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3E0A2DF-E616-A6A2-2119-561BC844D2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DE8B9D-23D9-4A5A-B434-4AB0BB474BF8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76123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C86FD-AA0B-4DED-F5CC-AE722891E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14DD37F-0995-13B4-3DEA-734CF05544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23086BD-F007-DFDB-FBF0-0925485091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fr-FR" sz="1200" b="1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Times New Roman" panose="02020603050405020304" pitchFamily="18" charset="0"/>
                <a:sym typeface="Arial"/>
              </a:rPr>
              <a:t>Maintenant, nous allons voir le contexte du projet, dans ce contexte, on va parler des problématiques:  </a:t>
            </a:r>
          </a:p>
          <a:p>
            <a:pPr lvl="0"/>
            <a:r>
              <a:rPr lang="fr-FR" sz="1200" b="1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Times New Roman" panose="02020603050405020304" pitchFamily="18" charset="0"/>
                <a:sym typeface="Arial"/>
              </a:rPr>
              <a:t>Le premier,</a:t>
            </a:r>
            <a:r>
              <a:rPr lang="fr-FR" sz="1200" b="1" i="0" u="none" strike="noStrike" cap="none" baseline="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Times New Roman" panose="02020603050405020304" pitchFamily="18" charset="0"/>
                <a:sym typeface="Arial"/>
              </a:rPr>
              <a:t> la difficulté des entreprises de trouver ses consultants freelances qui correspond a leur besoins.</a:t>
            </a:r>
            <a:endParaRPr lang="fr-FR" sz="1200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AF4FC71-40D5-8C71-F0ED-36477EE242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DE8B9D-23D9-4A5A-B434-4AB0BB474BF8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99137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C2FA0-D029-43DE-21AF-41D74B03F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9228A9F-329A-1264-8F93-C39D1FEA07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208CD32-B102-7077-482F-BE6FAAC795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fr-FR" sz="1200" b="1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Times New Roman" panose="02020603050405020304" pitchFamily="18" charset="0"/>
                <a:sym typeface="Arial"/>
              </a:rPr>
              <a:t>Maintenant, nous allons voir le contexte du projet, dans ce contexte, on va parler des problématiques:  </a:t>
            </a:r>
          </a:p>
          <a:p>
            <a:pPr lvl="0"/>
            <a:r>
              <a:rPr lang="fr-FR" sz="1200" b="1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Times New Roman" panose="02020603050405020304" pitchFamily="18" charset="0"/>
                <a:sym typeface="Arial"/>
              </a:rPr>
              <a:t>Le premier,</a:t>
            </a:r>
            <a:r>
              <a:rPr lang="fr-FR" sz="1200" b="1" i="0" u="none" strike="noStrike" cap="none" baseline="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Times New Roman" panose="02020603050405020304" pitchFamily="18" charset="0"/>
                <a:sym typeface="Arial"/>
              </a:rPr>
              <a:t> la difficulté des entreprises de trouver ses consultants freelances qui correspond a leur besoins.</a:t>
            </a:r>
            <a:endParaRPr lang="fr-FR" sz="1200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2CB52E0-A606-C043-5D71-4F9420D9A0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DE8B9D-23D9-4A5A-B434-4AB0BB474BF8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17430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960B7-E564-EAB4-8D22-F94A27159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48B1532-D8F6-B06A-ECB2-17503044AB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5D8F4E5-ECB3-FB9F-6D99-D5F8FEC5BD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fr-FR" sz="1200" b="1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Times New Roman" panose="02020603050405020304" pitchFamily="18" charset="0"/>
                <a:sym typeface="Arial"/>
              </a:rPr>
              <a:t>Et</a:t>
            </a:r>
            <a:r>
              <a:rPr lang="fr-FR" sz="1200" b="1" i="0" u="none" strike="noStrike" cap="none" baseline="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Times New Roman" panose="02020603050405020304" pitchFamily="18" charset="0"/>
                <a:sym typeface="Arial"/>
              </a:rPr>
              <a:t> </a:t>
            </a:r>
            <a:r>
              <a:rPr lang="fr-FR" sz="1200" b="1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Times New Roman" panose="02020603050405020304" pitchFamily="18" charset="0"/>
                <a:sym typeface="Arial"/>
              </a:rPr>
              <a:t>la troisième, </a:t>
            </a:r>
            <a:r>
              <a:rPr lang="fr-FR" sz="1200" b="1" i="0" u="none" strike="noStrike" cap="none" dirty="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rPr>
              <a:t>pour</a:t>
            </a:r>
            <a:r>
              <a:rPr lang="fr-FR" sz="1200" b="1" i="0" u="none" strike="noStrike" cap="none" baseline="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rPr>
              <a:t> des missions ponctuelles faire appel a  un freelance  coute moins cher qu’embauche un nouveau salarie</a:t>
            </a:r>
            <a:endParaRPr lang="fr-FR" sz="1200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B8AC219-75BB-6919-8D08-1E11538B2A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DE8B9D-23D9-4A5A-B434-4AB0BB474BF8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154379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9DBF0-FA4E-612C-C951-CDBD28855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E2B9FFE-C46E-45BE-C4FB-AC9D5ACCFD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201A256-5AB6-49B2-3B50-90729F447D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fr-FR" sz="1200" b="1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Arial"/>
                <a:sym typeface="Arial"/>
              </a:rPr>
              <a:t> Avant de réaliser notre projet, nous avons mis les objectifs suivants 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b="1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Arial"/>
                <a:sym typeface="Arial"/>
              </a:rPr>
              <a:t>Faciliter la gestion des projets et de mieux communiquer avec ses clients.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b="1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Arial"/>
                <a:sym typeface="Arial"/>
              </a:rPr>
              <a:t>simplifier la recherche de consultants IT freelance pour les clients qui cherchent des prestations externes</a:t>
            </a:r>
          </a:p>
          <a:p>
            <a:pPr marL="285750" marR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1" dirty="0" err="1">
                <a:latin typeface="Calibri" panose="020F0502020204030204" pitchFamily="34" charset="0"/>
                <a:cs typeface="Times New Roman" panose="02020603050405020304" pitchFamily="18" charset="0"/>
              </a:rPr>
              <a:t>Avoir</a:t>
            </a:r>
            <a:r>
              <a:rPr lang="en-US" sz="1200" b="1" dirty="0">
                <a:latin typeface="Calibri" panose="020F0502020204030204" pitchFamily="34" charset="0"/>
                <a:cs typeface="Times New Roman" panose="02020603050405020304" pitchFamily="18" charset="0"/>
              </a:rPr>
              <a:t> les </a:t>
            </a:r>
            <a:r>
              <a:rPr lang="en-US" sz="1200" b="1" dirty="0" err="1">
                <a:latin typeface="Calibri" panose="020F0502020204030204" pitchFamily="34" charset="0"/>
                <a:cs typeface="Times New Roman" panose="02020603050405020304" pitchFamily="18" charset="0"/>
              </a:rPr>
              <a:t>informations</a:t>
            </a:r>
            <a:r>
              <a:rPr lang="en-US" sz="1200" b="1" dirty="0">
                <a:latin typeface="Calibri" panose="020F0502020204030204" pitchFamily="34" charset="0"/>
                <a:cs typeface="Times New Roman" panose="02020603050405020304" pitchFamily="18" charset="0"/>
              </a:rPr>
              <a:t> et </a:t>
            </a:r>
            <a:r>
              <a:rPr lang="en-US" sz="1200" b="1" dirty="0" err="1">
                <a:latin typeface="Calibri" panose="020F0502020204030204" pitchFamily="34" charset="0"/>
                <a:cs typeface="Times New Roman" panose="02020603050405020304" pitchFamily="18" charset="0"/>
              </a:rPr>
              <a:t>statistiques</a:t>
            </a:r>
            <a:r>
              <a:rPr lang="en-US" sz="1200" b="1" dirty="0">
                <a:latin typeface="Calibri" panose="020F0502020204030204" pitchFamily="34" charset="0"/>
                <a:cs typeface="Times New Roman" panose="02020603050405020304" pitchFamily="18" charset="0"/>
              </a:rPr>
              <a:t> des chiffres affaires par </a:t>
            </a:r>
            <a:r>
              <a:rPr lang="en-US" sz="1200" b="1" dirty="0" err="1">
                <a:latin typeface="Calibri" panose="020F0502020204030204" pitchFamily="34" charset="0"/>
                <a:cs typeface="Times New Roman" panose="02020603050405020304" pitchFamily="18" charset="0"/>
              </a:rPr>
              <a:t>mois</a:t>
            </a:r>
            <a:r>
              <a:rPr lang="en-US" sz="1200" b="1" dirty="0">
                <a:latin typeface="Calibri" panose="020F0502020204030204" pitchFamily="34" charset="0"/>
                <a:cs typeface="Times New Roman" panose="02020603050405020304" pitchFamily="18" charset="0"/>
              </a:rPr>
              <a:t> et </a:t>
            </a:r>
            <a:r>
              <a:rPr lang="en-US" sz="1200" b="1" dirty="0" err="1">
                <a:latin typeface="Calibri" panose="020F0502020204030204" pitchFamily="34" charset="0"/>
                <a:cs typeface="Times New Roman" panose="02020603050405020304" pitchFamily="18" charset="0"/>
              </a:rPr>
              <a:t>année</a:t>
            </a:r>
            <a:r>
              <a:rPr lang="en-US" sz="1200" b="1" dirty="0">
                <a:latin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fr-FR" sz="1200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025FDE7-9AB5-AC47-5E46-CBB258368F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DE8B9D-23D9-4A5A-B434-4AB0BB474BF8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868823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6EEB2-76EB-23D3-2F29-6779D74B7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9DC5207-D360-FD1F-86BE-85521788D6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4105BFD-7047-446B-D54B-E83E9ACA4C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fr-FR" sz="1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Pour atteindre les objectifs précédents, il a fallu passer par l’étape de la réalisation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Nous avons choisi Symfony</a:t>
            </a:r>
            <a:r>
              <a:rPr lang="fr-FR" sz="1200" b="1" i="0" u="none" strike="noStrike" cap="none" baseline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fr-FR" sz="1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comme Framework</a:t>
            </a:r>
            <a:r>
              <a:rPr lang="fr-FR" sz="1200" b="1" i="0" u="none" strike="noStrike" cap="none" baseline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MVC</a:t>
            </a:r>
            <a:r>
              <a:rPr lang="fr-FR" sz="1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car</a:t>
            </a:r>
            <a:r>
              <a:rPr lang="fr-FR" sz="1200" b="1" i="0" u="none" strike="noStrike" cap="none" baseline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il est  libre, robuste, puissant grâce à ses fonctionnalités modulables et adaptables qui permettent de faciliter et d'accélérer le développement d'un site web.</a:t>
            </a:r>
            <a:endParaRPr lang="fr-FR" sz="12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746D017-F217-71AB-8C02-08A5565918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DE8B9D-23D9-4A5A-B434-4AB0BB474BF8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64613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C12CA-8FDC-6A8E-CFAF-B1A07161C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F718FA2-BD59-BDEA-F189-4146A22B8A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E92A79C-7D55-E3E2-F487-90AB333A8A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298450">
              <a:buClr>
                <a:srgbClr val="000000"/>
              </a:buClr>
              <a:buSzPts val="1100"/>
              <a:buFont typeface="Arial"/>
              <a:buChar char="●"/>
              <a:defRPr/>
            </a:pPr>
            <a:r>
              <a:rPr lang="fr-FR" sz="12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 la partie Client, on a choisit la technologie </a:t>
            </a:r>
            <a:r>
              <a:rPr lang="fr-FR" sz="1200" b="1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Twig</a:t>
            </a:r>
            <a:r>
              <a:rPr lang="fr-FR" sz="12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basée</a:t>
            </a:r>
            <a:r>
              <a:rPr lang="fr-FR" sz="1200" b="1" baseline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sur </a:t>
            </a:r>
            <a:r>
              <a:rPr lang="fr-FR" sz="1200" b="1" baseline="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symfony</a:t>
            </a:r>
            <a:r>
              <a:rPr lang="fr-FR" sz="1200" b="1" baseline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fr-FR" sz="12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avec HTML, JS et CSS car TWIG</a:t>
            </a:r>
            <a:r>
              <a:rPr lang="fr-FR" sz="1200" b="1" baseline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est un  moteur de </a:t>
            </a:r>
            <a:r>
              <a:rPr lang="fr-FR" sz="1200" b="1" baseline="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templates</a:t>
            </a:r>
            <a:r>
              <a:rPr lang="fr-FR" sz="1200" b="1" baseline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utilisé par défaut par le </a:t>
            </a:r>
            <a:r>
              <a:rPr lang="fr-FR" sz="1200" b="1" baseline="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framework</a:t>
            </a:r>
            <a:r>
              <a:rPr lang="fr-FR" sz="1200" b="1" baseline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fr-FR" sz="1200" b="1" baseline="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Symfony.Il</a:t>
            </a:r>
            <a:r>
              <a:rPr lang="fr-FR" sz="1200" b="1" baseline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 aussi une syntaxe beaucoup plus concise et claire.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7489631-FA55-42C8-AB8F-81391FDF07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DE8B9D-23D9-4A5A-B434-4AB0BB474BF8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10940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7907B-F4A6-3C79-8A23-36CE73F2B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F846259-7834-C553-D8B9-20E4A32BAE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A3D9F66-04B1-0F84-5092-192E81DCAD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Maintenant,pour</a:t>
            </a:r>
            <a:r>
              <a:rPr lang="fr-FR" sz="1200" b="1" baseline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mieux comprendre visionnons ensemble une démonstration de la plateforme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baseline="0" dirty="0" err="1">
                <a:solidFill>
                  <a:srgbClr val="000000"/>
                </a:solidFill>
                <a:latin typeface="Arial"/>
                <a:cs typeface="Arial"/>
                <a:sym typeface="Arial"/>
              </a:rPr>
              <a:t>Tpout</a:t>
            </a:r>
            <a:r>
              <a:rPr lang="fr-FR" sz="1200" b="1" baseline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 d’ abord à la page d’ accueil 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63DE153-9925-DC25-808E-CBA869F467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DE8B9D-23D9-4A5A-B434-4AB0BB474BF8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48899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15A77-6158-70E7-D810-5C5879CAC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AF0C314-3FA3-0F92-C342-BF8F8922AB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EFA23C9-A689-BA29-7248-3B40F2FB19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1" dirty="0">
                <a:latin typeface="Calibri" panose="020F0502020204030204" pitchFamily="34" charset="0"/>
              </a:rPr>
              <a:t>A la fin du projet, on a fait un bilan :</a:t>
            </a:r>
          </a:p>
          <a:p>
            <a:r>
              <a:rPr lang="fr-FR" sz="1200" b="1" dirty="0">
                <a:latin typeface="Calibri" panose="020F0502020204030204" pitchFamily="34" charset="0"/>
              </a:rPr>
              <a:t>Par rapport à l’entreprise : les fonctionnalités sont encore en phase de test, mais après la livraison, l’entreprise va bénéficier :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fr-FR" sz="1200" b="1" dirty="0">
                <a:latin typeface="Calibri" panose="020F0502020204030204" pitchFamily="34" charset="0"/>
              </a:rPr>
              <a:t>Des Personnels bien organisés 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fr-FR" sz="1200" b="1" dirty="0">
                <a:latin typeface="Calibri" panose="020F0502020204030204" pitchFamily="34" charset="0"/>
              </a:rPr>
              <a:t>D’une facilitation de travail </a:t>
            </a:r>
          </a:p>
          <a:p>
            <a:r>
              <a:rPr lang="fr-FR" sz="1200" b="1" dirty="0">
                <a:latin typeface="Calibri" panose="020F0502020204030204" pitchFamily="34" charset="0"/>
              </a:rPr>
              <a:t>De ma part ,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fr-FR" sz="1200" b="1" dirty="0">
                <a:latin typeface="Calibri" panose="020F0502020204030204" pitchFamily="34" charset="0"/>
              </a:rPr>
              <a:t>J’ai pu intégré le monde professionnel 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fr-FR" sz="1200" b="1" dirty="0">
                <a:latin typeface="Calibri" panose="020F0502020204030204" pitchFamily="34" charset="0"/>
              </a:rPr>
              <a:t> J’ai </a:t>
            </a:r>
            <a:r>
              <a:rPr lang="fr-FR" sz="1200" b="1" dirty="0" err="1">
                <a:latin typeface="Calibri" panose="020F0502020204030204" pitchFamily="34" charset="0"/>
              </a:rPr>
              <a:t>appri</a:t>
            </a:r>
            <a:r>
              <a:rPr lang="fr-FR" sz="1200" b="1" dirty="0">
                <a:latin typeface="Calibri" panose="020F0502020204030204" pitchFamily="34" charset="0"/>
              </a:rPr>
              <a:t> la connaissance du quelque métier de la business</a:t>
            </a:r>
            <a:r>
              <a:rPr lang="fr-FR" sz="1200" b="1" baseline="0" dirty="0">
                <a:latin typeface="Calibri" panose="020F0502020204030204" pitchFamily="34" charset="0"/>
              </a:rPr>
              <a:t> </a:t>
            </a:r>
            <a:endParaRPr lang="fr-FR" sz="1200" b="1" dirty="0">
              <a:latin typeface="Calibri" panose="020F0502020204030204" pitchFamily="34" charset="0"/>
            </a:endParaRP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fr-FR" sz="1200" b="1" dirty="0">
                <a:latin typeface="Calibri" panose="020F0502020204030204" pitchFamily="34" charset="0"/>
              </a:rPr>
              <a:t>Et j’ai aussi acquis des compétences et des savoir-faire du métier de développement informatique.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3885ABE-A767-435F-C5BF-DEBECE532E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DE8B9D-23D9-4A5A-B434-4AB0BB474BF8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37250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50A36-9F17-ACE1-D667-C06EB4D9E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0144A6D-A3A3-9365-AE6E-1A9F183BEC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A0EE669-9052-0993-81CF-7BE55873B2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1" dirty="0">
                <a:latin typeface="Calibri" panose="020F0502020204030204" pitchFamily="34" charset="0"/>
              </a:rPr>
              <a:t>Pour conclure, </a:t>
            </a:r>
            <a:r>
              <a:rPr lang="fr-CA" sz="1200" b="1" dirty="0">
                <a:latin typeface="Calibri" panose="020F0502020204030204" pitchFamily="34" charset="0"/>
                <a:ea typeface="Times New Roman" panose="02020603050405020304" pitchFamily="18" charset="0"/>
              </a:rPr>
              <a:t>La réalisation du projet</a:t>
            </a:r>
            <a:r>
              <a:rPr lang="fr-CA" sz="1200" b="1" baseline="0" dirty="0">
                <a:latin typeface="Calibri" panose="020F0502020204030204" pitchFamily="34" charset="0"/>
                <a:ea typeface="Times New Roman" panose="02020603050405020304" pitchFamily="18" charset="0"/>
              </a:rPr>
              <a:t> IT NETWORK</a:t>
            </a:r>
            <a:r>
              <a:rPr lang="fr-CA" sz="1200" b="1" dirty="0">
                <a:latin typeface="Calibri" panose="020F0502020204030204" pitchFamily="34" charset="0"/>
                <a:ea typeface="Times New Roman" panose="02020603050405020304" pitchFamily="18" charset="0"/>
              </a:rPr>
              <a:t> pour</a:t>
            </a:r>
            <a:r>
              <a:rPr lang="fr-CA" sz="1200" b="1" baseline="0" dirty="0">
                <a:latin typeface="Calibri" panose="020F0502020204030204" pitchFamily="34" charset="0"/>
                <a:ea typeface="Times New Roman" panose="02020603050405020304" pitchFamily="18" charset="0"/>
              </a:rPr>
              <a:t> ISALOSYS</a:t>
            </a:r>
            <a:r>
              <a:rPr lang="fr-CA" sz="1200" b="1" dirty="0">
                <a:latin typeface="Calibri" panose="020F0502020204030204" pitchFamily="34" charset="0"/>
                <a:ea typeface="Times New Roman" panose="02020603050405020304" pitchFamily="18" charset="0"/>
              </a:rPr>
              <a:t> effectuer durant le stage donne les résultats suivantes :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fr-FR" sz="1200" b="1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Arial"/>
                <a:sym typeface="Arial"/>
              </a:rPr>
              <a:t>Une facilitation de gestion de la suivi des</a:t>
            </a:r>
            <a:r>
              <a:rPr lang="fr-FR" sz="1200" b="1" baseline="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Arial"/>
                <a:sym typeface="Arial"/>
              </a:rPr>
              <a:t> projets entre client et entreprise</a:t>
            </a:r>
            <a:endParaRPr lang="fr-FR" sz="1200" b="1" dirty="0">
              <a:solidFill>
                <a:srgbClr val="000000"/>
              </a:solidFill>
              <a:latin typeface="Calibri" panose="020F0502020204030204" pitchFamily="34" charset="0"/>
              <a:ea typeface="Arial"/>
              <a:cs typeface="Arial"/>
              <a:sym typeface="Arial"/>
            </a:endParaRP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fr-CA" sz="1200" b="1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Arial"/>
                <a:sym typeface="Arial"/>
              </a:rPr>
              <a:t>Toujours</a:t>
            </a:r>
            <a:r>
              <a:rPr lang="fr-CA" sz="1200" b="1" baseline="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Arial"/>
                <a:sym typeface="Arial"/>
              </a:rPr>
              <a:t> être notifier par site et par compte </a:t>
            </a:r>
            <a:r>
              <a:rPr lang="fr-CA" sz="1200" b="1" baseline="0" dirty="0" err="1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Arial"/>
                <a:sym typeface="Arial"/>
              </a:rPr>
              <a:t>gmail</a:t>
            </a:r>
            <a:endParaRPr lang="fr-CA" sz="1200" b="1" dirty="0">
              <a:solidFill>
                <a:srgbClr val="000000"/>
              </a:solidFill>
              <a:latin typeface="Calibri" panose="020F0502020204030204" pitchFamily="34" charset="0"/>
              <a:ea typeface="Arial"/>
              <a:cs typeface="Arial"/>
              <a:sym typeface="Arial"/>
            </a:endParaRP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fr-CA" sz="1200" b="1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Arial"/>
                <a:sym typeface="Arial"/>
              </a:rPr>
              <a:t>Des</a:t>
            </a:r>
            <a:r>
              <a:rPr lang="fr-CA" sz="1200" b="1" baseline="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Arial"/>
                <a:sym typeface="Arial"/>
              </a:rPr>
              <a:t> informations et </a:t>
            </a:r>
            <a:r>
              <a:rPr lang="fr-CA" sz="1200" b="1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Arial"/>
                <a:sym typeface="Arial"/>
              </a:rPr>
              <a:t>statistiques précisent concernant les</a:t>
            </a:r>
            <a:r>
              <a:rPr lang="fr-CA" sz="1200" b="1" baseline="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Arial"/>
                <a:sym typeface="Arial"/>
              </a:rPr>
              <a:t> chiffres de recette par mois et par année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B2CAFCD-26C8-BB71-626A-8238CA13DD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DE8B9D-23D9-4A5A-B434-4AB0BB474BF8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92412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b="1" dirty="0"/>
              <a:t>Et pour finir, </a:t>
            </a:r>
          </a:p>
          <a:p>
            <a:r>
              <a:rPr lang="fr-FR" b="1" dirty="0"/>
              <a:t>Je</a:t>
            </a:r>
            <a:r>
              <a:rPr lang="fr-FR" b="1" baseline="0" dirty="0"/>
              <a:t> vous remercie de votre aimable attention de suivre jusqu’ à la fin cette présentation et je serai disponible de répondre à votre question.</a:t>
            </a:r>
          </a:p>
          <a:p>
            <a:endParaRPr lang="fr-FR" b="1" dirty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DE8B9D-23D9-4A5A-B434-4AB0BB474BF8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46553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ravinala-airports.aero/" TargetMode="External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BF51F-EF4F-4831-83A2-37E0EDE58465}" type="datetime1">
              <a:rPr lang="fr-FR" smtClean="0"/>
              <a:t>16/11/2025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494CC-B15C-4B66-A0B3-2A1451EE2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7235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59C9B-7593-4D70-B2F6-11625777002A}" type="datetime1">
              <a:rPr lang="fr-FR" smtClean="0"/>
              <a:t>16/11/2025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494CC-B15C-4B66-A0B3-2A1451EE2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6454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8C6A2-C517-4521-96B3-31027F35F791}" type="datetime1">
              <a:rPr lang="fr-FR" smtClean="0"/>
              <a:t>16/11/2025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494CC-B15C-4B66-A0B3-2A1451EE2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56588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AEBB8-74F6-4D4C-A9AF-5DC1B4B7EF86}" type="datetime1">
              <a:rPr lang="fr-FR" smtClean="0"/>
              <a:t>16/11/2025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494CC-B15C-4B66-A0B3-2A1451EE2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19333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7062E-11A5-4D55-83A1-FE7CC15A117C}" type="datetime1">
              <a:rPr lang="fr-FR" smtClean="0"/>
              <a:t>16/11/2025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494CC-B15C-4B66-A0B3-2A1451EE2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3639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292B9-7695-45DA-8F7E-DF6236A5E254}" type="datetime1">
              <a:rPr lang="fr-FR" smtClean="0"/>
              <a:t>16/11/2025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494CC-B15C-4B66-A0B3-2A1451EE2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52043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A46A3-BF5E-450F-9435-05789B8896DD}" type="datetime1">
              <a:rPr lang="fr-FR" smtClean="0"/>
              <a:t>16/11/2025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494CC-B15C-4B66-A0B3-2A1451EE2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85266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3B117-4501-45FA-A123-0EF33356545E}" type="datetime1">
              <a:rPr lang="fr-FR" smtClean="0"/>
              <a:t>16/11/2025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494CC-B15C-4B66-A0B3-2A1451EE2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4357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2A81E-A5A4-48CA-8990-FE1DC2FA053C}" type="datetime1">
              <a:rPr lang="fr-FR" smtClean="0"/>
              <a:t>16/11/2025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494CC-B15C-4B66-A0B3-2A1451EE2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3963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754E5-B481-40FC-8087-5E018FE675D0}" type="datetime1">
              <a:rPr lang="fr-FR" smtClean="0"/>
              <a:t>16/11/2025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494CC-B15C-4B66-A0B3-2A1451EE2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5376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BEE19-0416-40D0-9553-675471A84187}" type="datetime1">
              <a:rPr lang="fr-FR" smtClean="0"/>
              <a:t>16/11/2025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494CC-B15C-4B66-A0B3-2A1451EE2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012629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667" y="0"/>
            <a:ext cx="1109663" cy="955747"/>
          </a:xfrm>
          <a:prstGeom prst="rect">
            <a:avLst/>
          </a:prstGeom>
        </p:spPr>
      </p:pic>
      <p:cxnSp>
        <p:nvCxnSpPr>
          <p:cNvPr id="11" name="Connecteur droit 10"/>
          <p:cNvCxnSpPr/>
          <p:nvPr userDrawn="1"/>
        </p:nvCxnSpPr>
        <p:spPr>
          <a:xfrm>
            <a:off x="1854561" y="789035"/>
            <a:ext cx="9259906" cy="14447"/>
          </a:xfrm>
          <a:prstGeom prst="line">
            <a:avLst/>
          </a:prstGeom>
          <a:ln w="38100">
            <a:solidFill>
              <a:srgbClr val="73B7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Espace réservé du texte 12"/>
          <p:cNvSpPr>
            <a:spLocks noGrp="1"/>
          </p:cNvSpPr>
          <p:nvPr>
            <p:ph type="body" sz="quarter" idx="10" hasCustomPrompt="1"/>
          </p:nvPr>
        </p:nvSpPr>
        <p:spPr>
          <a:xfrm>
            <a:off x="1854561" y="176920"/>
            <a:ext cx="9259906" cy="579281"/>
          </a:xfrm>
        </p:spPr>
        <p:txBody>
          <a:bodyPr>
            <a:normAutofit/>
          </a:bodyPr>
          <a:lstStyle>
            <a:lvl1pPr marL="0" indent="0" algn="ctr">
              <a:buNone/>
              <a:defRPr sz="3600" b="1">
                <a:solidFill>
                  <a:srgbClr val="92D050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fr-FR" dirty="0"/>
              <a:t>TITRE</a:t>
            </a:r>
          </a:p>
        </p:txBody>
      </p:sp>
      <p:sp>
        <p:nvSpPr>
          <p:cNvPr id="4" name="Espace réservé pour une image  3"/>
          <p:cNvSpPr>
            <a:spLocks noGrp="1"/>
          </p:cNvSpPr>
          <p:nvPr>
            <p:ph type="pic" sz="quarter" idx="11"/>
          </p:nvPr>
        </p:nvSpPr>
        <p:spPr>
          <a:xfrm>
            <a:off x="1109752" y="1064209"/>
            <a:ext cx="3136811" cy="2473325"/>
          </a:xfrm>
        </p:spPr>
        <p:txBody>
          <a:bodyPr/>
          <a:lstStyle/>
          <a:p>
            <a:endParaRPr lang="fr-FR"/>
          </a:p>
        </p:txBody>
      </p:sp>
      <p:sp>
        <p:nvSpPr>
          <p:cNvPr id="16" name="Espace réservé pour une image  3"/>
          <p:cNvSpPr>
            <a:spLocks noGrp="1"/>
          </p:cNvSpPr>
          <p:nvPr>
            <p:ph type="pic" sz="quarter" idx="12"/>
          </p:nvPr>
        </p:nvSpPr>
        <p:spPr>
          <a:xfrm>
            <a:off x="4623722" y="1074689"/>
            <a:ext cx="3136811" cy="2473325"/>
          </a:xfrm>
        </p:spPr>
        <p:txBody>
          <a:bodyPr/>
          <a:lstStyle/>
          <a:p>
            <a:endParaRPr lang="fr-FR"/>
          </a:p>
        </p:txBody>
      </p:sp>
      <p:sp>
        <p:nvSpPr>
          <p:cNvPr id="17" name="Espace réservé pour une image  3"/>
          <p:cNvSpPr>
            <a:spLocks noGrp="1"/>
          </p:cNvSpPr>
          <p:nvPr>
            <p:ph type="pic" sz="quarter" idx="13"/>
          </p:nvPr>
        </p:nvSpPr>
        <p:spPr>
          <a:xfrm>
            <a:off x="8137870" y="1074688"/>
            <a:ext cx="3136811" cy="2473325"/>
          </a:xfrm>
        </p:spPr>
        <p:txBody>
          <a:bodyPr/>
          <a:lstStyle/>
          <a:p>
            <a:endParaRPr lang="fr-FR"/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4" hasCustomPrompt="1"/>
          </p:nvPr>
        </p:nvSpPr>
        <p:spPr>
          <a:xfrm>
            <a:off x="1109663" y="3645996"/>
            <a:ext cx="3136900" cy="2735541"/>
          </a:xfrm>
        </p:spPr>
        <p:txBody>
          <a:bodyPr>
            <a:normAutofit/>
          </a:bodyPr>
          <a:lstStyle>
            <a:lvl1pPr marL="0" indent="0">
              <a:buNone/>
              <a:defRPr sz="3200" baseline="0">
                <a:latin typeface="Century Gothic" panose="020B0502020202020204" pitchFamily="34" charset="0"/>
              </a:defRPr>
            </a:lvl1pPr>
          </a:lstStyle>
          <a:p>
            <a:pPr lvl="0"/>
            <a:r>
              <a:rPr lang="fr-FR" dirty="0"/>
              <a:t>Votre texte</a:t>
            </a:r>
          </a:p>
        </p:txBody>
      </p:sp>
      <p:sp>
        <p:nvSpPr>
          <p:cNvPr id="18" name="Espace réservé du texte 5"/>
          <p:cNvSpPr>
            <a:spLocks noGrp="1"/>
          </p:cNvSpPr>
          <p:nvPr>
            <p:ph type="body" sz="quarter" idx="15" hasCustomPrompt="1"/>
          </p:nvPr>
        </p:nvSpPr>
        <p:spPr>
          <a:xfrm>
            <a:off x="4623722" y="3648388"/>
            <a:ext cx="3136900" cy="2735541"/>
          </a:xfrm>
        </p:spPr>
        <p:txBody>
          <a:bodyPr>
            <a:normAutofit/>
          </a:bodyPr>
          <a:lstStyle>
            <a:lvl1pPr marL="0" indent="0">
              <a:buNone/>
              <a:defRPr sz="3200" baseline="0">
                <a:latin typeface="Century Gothic" panose="020B0502020202020204" pitchFamily="34" charset="0"/>
              </a:defRPr>
            </a:lvl1pPr>
          </a:lstStyle>
          <a:p>
            <a:pPr lvl="0"/>
            <a:r>
              <a:rPr lang="fr-FR" dirty="0"/>
              <a:t>Votre texte</a:t>
            </a:r>
          </a:p>
        </p:txBody>
      </p:sp>
      <p:sp>
        <p:nvSpPr>
          <p:cNvPr id="19" name="Espace réservé du texte 5"/>
          <p:cNvSpPr>
            <a:spLocks noGrp="1"/>
          </p:cNvSpPr>
          <p:nvPr>
            <p:ph type="body" sz="quarter" idx="16" hasCustomPrompt="1"/>
          </p:nvPr>
        </p:nvSpPr>
        <p:spPr>
          <a:xfrm>
            <a:off x="8137781" y="3645996"/>
            <a:ext cx="3136900" cy="2747860"/>
          </a:xfrm>
        </p:spPr>
        <p:txBody>
          <a:bodyPr>
            <a:normAutofit/>
          </a:bodyPr>
          <a:lstStyle>
            <a:lvl1pPr marL="0" indent="0">
              <a:buNone/>
              <a:defRPr sz="3200" baseline="0">
                <a:latin typeface="Century Gothic" panose="020B0502020202020204" pitchFamily="34" charset="0"/>
              </a:defRPr>
            </a:lvl1pPr>
          </a:lstStyle>
          <a:p>
            <a:pPr lvl="0"/>
            <a:r>
              <a:rPr lang="fr-FR" dirty="0"/>
              <a:t>Votre texte</a:t>
            </a:r>
          </a:p>
        </p:txBody>
      </p:sp>
      <p:sp>
        <p:nvSpPr>
          <p:cNvPr id="12" name="Espace réservé de la date 3"/>
          <p:cNvSpPr>
            <a:spLocks noGrp="1"/>
          </p:cNvSpPr>
          <p:nvPr>
            <p:ph type="dt" sz="half" idx="17"/>
          </p:nvPr>
        </p:nvSpPr>
        <p:spPr>
          <a:xfrm>
            <a:off x="128790" y="6542467"/>
            <a:ext cx="2743200" cy="289775"/>
          </a:xfr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r>
              <a:rPr lang="fr-FR" dirty="0"/>
              <a:t>Votre département ici</a:t>
            </a:r>
          </a:p>
        </p:txBody>
      </p:sp>
    </p:spTree>
    <p:extLst>
      <p:ext uri="{BB962C8B-B14F-4D97-AF65-F5344CB8AC3E}">
        <p14:creationId xmlns:p14="http://schemas.microsoft.com/office/powerpoint/2010/main" val="6130885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IN DE PRESEN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223799" cy="5988676"/>
          </a:xfrm>
          <a:prstGeom prst="rect">
            <a:avLst/>
          </a:prstGeom>
        </p:spPr>
      </p:pic>
      <p:sp>
        <p:nvSpPr>
          <p:cNvPr id="7" name="ZoneTexte 6"/>
          <p:cNvSpPr txBox="1"/>
          <p:nvPr userDrawn="1"/>
        </p:nvSpPr>
        <p:spPr>
          <a:xfrm>
            <a:off x="2653048" y="141667"/>
            <a:ext cx="713489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400" b="0" dirty="0">
                <a:solidFill>
                  <a:schemeClr val="bg1"/>
                </a:solidFill>
                <a:latin typeface="Century Gothic" panose="020B0502020202020204" pitchFamily="34" charset="0"/>
              </a:rPr>
              <a:t>Merci de votre attention!</a:t>
            </a:r>
          </a:p>
        </p:txBody>
      </p:sp>
      <p:sp>
        <p:nvSpPr>
          <p:cNvPr id="8" name="ZoneTexte 7"/>
          <p:cNvSpPr txBox="1"/>
          <p:nvPr userDrawn="1"/>
        </p:nvSpPr>
        <p:spPr>
          <a:xfrm>
            <a:off x="2073498" y="6040191"/>
            <a:ext cx="829399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fr-FR" sz="1400" dirty="0">
                <a:latin typeface="Century Gothic" panose="020B0502020202020204" pitchFamily="34" charset="0"/>
              </a:rPr>
              <a:t>contact@ravinala-airports.aero</a:t>
            </a:r>
            <a:r>
              <a:rPr lang="fr-FR" sz="1400" baseline="0" dirty="0">
                <a:latin typeface="Century Gothic" panose="020B0502020202020204" pitchFamily="34" charset="0"/>
              </a:rPr>
              <a:t> +261 20 22 537 34 </a:t>
            </a:r>
            <a:r>
              <a:rPr lang="fr-FR" sz="1400" baseline="0" dirty="0">
                <a:latin typeface="Century Gothic" panose="020B0502020202020204" pitchFamily="34" charset="0"/>
                <a:hlinkClick r:id="rId3"/>
              </a:rPr>
              <a:t>www.ravinala-airports.aero</a:t>
            </a:r>
            <a:endParaRPr lang="fr-FR" sz="1400" baseline="0" dirty="0">
              <a:latin typeface="Century Gothic" panose="020B0502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fr-FR" sz="1400" baseline="0" dirty="0">
                <a:latin typeface="Century Gothic" panose="020B0502020202020204" pitchFamily="34" charset="0"/>
              </a:rPr>
              <a:t>Suivez-nous : « </a:t>
            </a:r>
            <a:r>
              <a:rPr lang="fr-FR" sz="1400" baseline="0" dirty="0" err="1">
                <a:latin typeface="Century Gothic" panose="020B0502020202020204" pitchFamily="34" charset="0"/>
              </a:rPr>
              <a:t>Ravinala</a:t>
            </a:r>
            <a:r>
              <a:rPr lang="fr-FR" sz="1400" baseline="0" dirty="0">
                <a:latin typeface="Century Gothic" panose="020B0502020202020204" pitchFamily="34" charset="0"/>
              </a:rPr>
              <a:t> </a:t>
            </a:r>
            <a:r>
              <a:rPr lang="fr-FR" sz="1400" baseline="0" dirty="0" err="1">
                <a:latin typeface="Century Gothic" panose="020B0502020202020204" pitchFamily="34" charset="0"/>
              </a:rPr>
              <a:t>Airports</a:t>
            </a:r>
            <a:r>
              <a:rPr lang="fr-FR" sz="1400" baseline="0" dirty="0">
                <a:latin typeface="Century Gothic" panose="020B0502020202020204" pitchFamily="34" charset="0"/>
              </a:rPr>
              <a:t> Madagascar » </a:t>
            </a:r>
            <a:endParaRPr lang="fr-FR" sz="1400" dirty="0">
              <a:latin typeface="Century Gothic" panose="020B0502020202020204" pitchFamily="34" charset="0"/>
            </a:endParaRPr>
          </a:p>
        </p:txBody>
      </p:sp>
      <p:pic>
        <p:nvPicPr>
          <p:cNvPr id="9" name="Image 8"/>
          <p:cNvPicPr/>
          <p:nvPr userDrawn="1"/>
        </p:nvPicPr>
        <p:blipFill>
          <a:blip r:embed="rId4"/>
          <a:stretch>
            <a:fillRect/>
          </a:stretch>
        </p:blipFill>
        <p:spPr>
          <a:xfrm>
            <a:off x="8299881" y="6427521"/>
            <a:ext cx="972908" cy="389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377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511FCA-012C-4DED-AE6D-C8BC2B18F746}" type="datetime1">
              <a:rPr lang="fr-FR" smtClean="0"/>
              <a:t>16/11/2025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D494CC-B15C-4B66-A0B3-2A1451EE2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2662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451" r:id="rId1"/>
    <p:sldLayoutId id="2147485452" r:id="rId2"/>
    <p:sldLayoutId id="2147485453" r:id="rId3"/>
    <p:sldLayoutId id="2147485454" r:id="rId4"/>
    <p:sldLayoutId id="2147485455" r:id="rId5"/>
    <p:sldLayoutId id="2147485456" r:id="rId6"/>
    <p:sldLayoutId id="2147485457" r:id="rId7"/>
    <p:sldLayoutId id="2147485458" r:id="rId8"/>
    <p:sldLayoutId id="2147485459" r:id="rId9"/>
    <p:sldLayoutId id="2147485460" r:id="rId10"/>
    <p:sldLayoutId id="2147485461" r:id="rId11"/>
    <p:sldLayoutId id="2147485462" r:id="rId12"/>
    <p:sldLayoutId id="2147485463" r:id="rId13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jpeg"/><Relationship Id="rId4" Type="http://schemas.openxmlformats.org/officeDocument/2006/relationships/image" Target="../media/image10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gif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web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57526" y="1768630"/>
            <a:ext cx="9731815" cy="1244008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br>
              <a:rPr lang="fr-FR" sz="2800" dirty="0">
                <a:latin typeface="Calibri" panose="020F0502020204030204" pitchFamily="34" charset="0"/>
              </a:rPr>
            </a:br>
            <a:r>
              <a:rPr lang="fr-FR" sz="2800" dirty="0">
                <a:latin typeface="Calibri" panose="020F0502020204030204" pitchFamily="34" charset="0"/>
              </a:rPr>
              <a:t> </a:t>
            </a:r>
            <a:r>
              <a:rPr lang="fr-CA" sz="2800" b="1" dirty="0"/>
              <a:t>Digitalisation du processus de gestion des missions</a:t>
            </a:r>
            <a:br>
              <a:rPr lang="fr-FR" b="1" dirty="0"/>
            </a:br>
            <a:endParaRPr lang="fr-FR" sz="2800" dirty="0">
              <a:latin typeface="Calibri" panose="020F0502020204030204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09942" y="3405352"/>
            <a:ext cx="4450732" cy="1241957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fr-FR" sz="1400" dirty="0">
                <a:latin typeface="Calibri" panose="020F0502020204030204" pitchFamily="34" charset="0"/>
              </a:rPr>
              <a:t>        Mémoire présenté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fr-FR" sz="1400" dirty="0">
                <a:latin typeface="Calibri" panose="020F0502020204030204" pitchFamily="34" charset="0"/>
              </a:rPr>
              <a:t>En vue de l’obtention du grade de Licence En Informatique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fr-FR" sz="1400" dirty="0">
                <a:latin typeface="Calibri" panose="020F0502020204030204" pitchFamily="34" charset="0"/>
              </a:rPr>
              <a:t>          Option Développement</a:t>
            </a:r>
          </a:p>
        </p:txBody>
      </p:sp>
      <p:pic>
        <p:nvPicPr>
          <p:cNvPr id="5" name="image3.png">
            <a:extLst>
              <a:ext uri="{FF2B5EF4-FFF2-40B4-BE49-F238E27FC236}">
                <a16:creationId xmlns:a16="http://schemas.microsoft.com/office/drawing/2014/main" id="{D3BFF6AA-EEF4-3C4B-C708-4BBECC85FD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127" y="791147"/>
            <a:ext cx="3592697" cy="9520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ZoneTexte 6"/>
          <p:cNvSpPr txBox="1"/>
          <p:nvPr/>
        </p:nvSpPr>
        <p:spPr>
          <a:xfrm>
            <a:off x="4209942" y="4606867"/>
            <a:ext cx="43809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latin typeface="Calibri" panose="020F0502020204030204" pitchFamily="34" charset="0"/>
                <a:cs typeface="Times New Roman" panose="02020603050405020304" pitchFamily="18" charset="0"/>
              </a:rPr>
              <a:t>Par RAKOTOARIMANANA </a:t>
            </a:r>
            <a:r>
              <a:rPr lang="fr-FR" sz="16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Henintsoa</a:t>
            </a:r>
            <a:r>
              <a:rPr lang="fr-FR" sz="1600" dirty="0"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6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MiantsaFitia</a:t>
            </a:r>
            <a:endParaRPr lang="fr-FR" sz="16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217303" y="6506598"/>
            <a:ext cx="2079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Décembre 2022</a:t>
            </a:r>
          </a:p>
        </p:txBody>
      </p:sp>
      <p:sp>
        <p:nvSpPr>
          <p:cNvPr id="11" name="ZoneTexte 10"/>
          <p:cNvSpPr txBox="1"/>
          <p:nvPr/>
        </p:nvSpPr>
        <p:spPr>
          <a:xfrm>
            <a:off x="2297115" y="5457398"/>
            <a:ext cx="879222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latin typeface="Calibri" panose="020F0502020204030204" pitchFamily="34" charset="0"/>
                <a:cs typeface="Times New Roman" panose="02020603050405020304" pitchFamily="18" charset="0"/>
              </a:rPr>
              <a:t>Membre de jury :</a:t>
            </a:r>
          </a:p>
          <a:p>
            <a:r>
              <a:rPr lang="fr-FR" sz="1400" dirty="0">
                <a:latin typeface="Calibri" panose="020F0502020204030204" pitchFamily="34" charset="0"/>
                <a:cs typeface="Times New Roman" panose="02020603050405020304" pitchFamily="18" charset="0"/>
              </a:rPr>
              <a:t>		M. </a:t>
            </a:r>
            <a:r>
              <a:rPr lang="fr-FR" sz="1400" dirty="0" err="1"/>
              <a:t>Vahatriniaina</a:t>
            </a:r>
            <a:r>
              <a:rPr lang="fr-FR" sz="1400" dirty="0"/>
              <a:t> </a:t>
            </a:r>
            <a:r>
              <a:rPr lang="fr-FR" sz="1400" dirty="0" err="1"/>
              <a:t>Rakotomalala</a:t>
            </a:r>
            <a:r>
              <a:rPr lang="fr-FR" sz="1400" dirty="0">
                <a:latin typeface="Calibri" panose="020F0502020204030204" pitchFamily="34" charset="0"/>
                <a:cs typeface="Times New Roman" panose="02020603050405020304" pitchFamily="18" charset="0"/>
              </a:rPr>
              <a:t>, président</a:t>
            </a:r>
          </a:p>
          <a:p>
            <a:r>
              <a:rPr lang="fr-FR" sz="1400" dirty="0">
                <a:latin typeface="Calibri" panose="020F0502020204030204" pitchFamily="34" charset="0"/>
                <a:cs typeface="Times New Roman" panose="02020603050405020304" pitchFamily="18" charset="0"/>
              </a:rPr>
              <a:t>		M. </a:t>
            </a:r>
            <a:r>
              <a:rPr lang="fr-FR" sz="1400" dirty="0" err="1"/>
              <a:t>Rakotondralambo</a:t>
            </a:r>
            <a:r>
              <a:rPr lang="fr-FR" sz="1400" dirty="0">
                <a:latin typeface="Calibri" panose="020F0502020204030204" pitchFamily="34" charset="0"/>
                <a:cs typeface="Times New Roman" panose="02020603050405020304" pitchFamily="18" charset="0"/>
              </a:rPr>
              <a:t>, examinateur</a:t>
            </a:r>
          </a:p>
          <a:p>
            <a:r>
              <a:rPr lang="fr-FR" sz="1400" dirty="0">
                <a:latin typeface="Calibri" panose="020F0502020204030204" pitchFamily="34" charset="0"/>
                <a:cs typeface="Times New Roman" panose="02020603050405020304" pitchFamily="18" charset="0"/>
              </a:rPr>
              <a:t>		M. </a:t>
            </a:r>
            <a:r>
              <a:rPr lang="fr-FR" sz="1400" dirty="0"/>
              <a:t>Herinomenjanaharilala Sedera </a:t>
            </a:r>
            <a:r>
              <a:rPr lang="fr-FR" sz="1400" dirty="0" err="1"/>
              <a:t>Rasolofondramanambe</a:t>
            </a:r>
            <a:r>
              <a:rPr lang="fr-FR" sz="1400" dirty="0">
                <a:latin typeface="Calibri" panose="020F0502020204030204" pitchFamily="34" charset="0"/>
                <a:cs typeface="Times New Roman" panose="02020603050405020304" pitchFamily="18" charset="0"/>
              </a:rPr>
              <a:t>, encadreur professionnel</a:t>
            </a:r>
          </a:p>
        </p:txBody>
      </p:sp>
      <p:sp>
        <p:nvSpPr>
          <p:cNvPr id="12" name="Triangle rectangle 11"/>
          <p:cNvSpPr/>
          <p:nvPr/>
        </p:nvSpPr>
        <p:spPr>
          <a:xfrm>
            <a:off x="0" y="5965011"/>
            <a:ext cx="1932040" cy="892989"/>
          </a:xfrm>
          <a:prstGeom prst="rtTriangle">
            <a:avLst/>
          </a:prstGeom>
          <a:solidFill>
            <a:srgbClr val="73B739"/>
          </a:solidFill>
          <a:ln>
            <a:solidFill>
              <a:srgbClr val="73B7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73B739"/>
              </a:solidFill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32132A0C-8B41-02A6-F8E9-DC34058870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9557927" y="616788"/>
            <a:ext cx="1609946" cy="130074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8834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fr-FR" dirty="0">
                <a:latin typeface="+mn-lt"/>
              </a:rPr>
              <a:t>PLAN</a:t>
            </a:r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6"/>
          </p:nvPr>
        </p:nvSpPr>
        <p:spPr>
          <a:xfrm>
            <a:off x="623944" y="1527586"/>
            <a:ext cx="10661495" cy="4995362"/>
          </a:xfrm>
        </p:spPr>
        <p:txBody>
          <a:bodyPr>
            <a:normAutofit/>
          </a:bodyPr>
          <a:lstStyle/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Introduction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Contexte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Objectifs du projet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Réalisation du projet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Démonstration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</a:rPr>
              <a:t>Conclusion</a:t>
            </a:r>
            <a:endParaRPr lang="fr-FR" sz="20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fr-FR" sz="28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fr-FR" sz="28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fr-FR" sz="28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26725524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C0EDB-55C1-919C-79F6-E399D2FBC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9A980C7B-B601-1C38-F9AE-F7281C9FB9A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fr-FR" dirty="0">
                <a:latin typeface="+mn-lt"/>
              </a:rPr>
              <a:t>Introduction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CEDF6805-E71C-3416-00BC-A213D265964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3944" y="1527586"/>
            <a:ext cx="10661495" cy="4995362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fr-FR" sz="28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fr-FR" sz="28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1600" dirty="0"/>
              <a:t>Gestionnaire des aéroports d’Antananarivo et </a:t>
            </a:r>
            <a:r>
              <a:rPr lang="fr-FR" sz="1600" dirty="0" err="1"/>
              <a:t>Nosy</a:t>
            </a:r>
            <a:r>
              <a:rPr lang="fr-FR" sz="1600" dirty="0"/>
              <a:t> Be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1600" dirty="0"/>
              <a:t>Objectif 2027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1600" dirty="0"/>
              <a:t>Missions clés</a:t>
            </a:r>
            <a:endParaRPr lang="fr-FR" sz="28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fr-FR" sz="2800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7C626DF2-D1C4-AB38-2E49-E5B25EFCE3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8152886" y="1731861"/>
            <a:ext cx="2678464" cy="2164045"/>
          </a:xfrm>
          <a:prstGeom prst="rect">
            <a:avLst/>
          </a:prstGeom>
          <a:noFill/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C75BDB56-F044-41FF-AC9F-036A91771E41}"/>
              </a:ext>
            </a:extLst>
          </p:cNvPr>
          <p:cNvSpPr txBox="1"/>
          <p:nvPr/>
        </p:nvSpPr>
        <p:spPr>
          <a:xfrm>
            <a:off x="320441" y="2105374"/>
            <a:ext cx="3444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u="sng" dirty="0"/>
              <a:t>RAVINALA AIRPORTS</a:t>
            </a:r>
          </a:p>
        </p:txBody>
      </p:sp>
    </p:spTree>
    <p:extLst>
      <p:ext uri="{BB962C8B-B14F-4D97-AF65-F5344CB8AC3E}">
        <p14:creationId xmlns:p14="http://schemas.microsoft.com/office/powerpoint/2010/main" val="28671314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EE1DA-BFB0-1EA1-3D1B-6DB8694AD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E4F998D2-89C7-4D7D-0DC8-B8D2B4142A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fr-FR" dirty="0">
                <a:latin typeface="+mn-lt"/>
              </a:rPr>
              <a:t>Introduction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86DBB1A0-4317-4006-0D36-92B6B4F9A4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3944" y="1527586"/>
            <a:ext cx="10661495" cy="4995362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fr-FR" sz="28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fr-FR" sz="28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fr-FR" sz="28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fr-FR" sz="2800" dirty="0"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F29FE8F2-B3C7-FB37-8B3C-3AA6F47C2BA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6854" y="2153849"/>
            <a:ext cx="2552704" cy="2552704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FCF457E1-9BCB-4428-69AC-46590752947E}"/>
              </a:ext>
            </a:extLst>
          </p:cNvPr>
          <p:cNvSpPr txBox="1"/>
          <p:nvPr/>
        </p:nvSpPr>
        <p:spPr>
          <a:xfrm>
            <a:off x="309717" y="4704151"/>
            <a:ext cx="32446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fr-FR" sz="1400" dirty="0">
                <a:latin typeface="Calibri" panose="020F0502020204030204" pitchFamily="34" charset="0"/>
              </a:rPr>
              <a:t>Analyse et compréhension de l’existant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D4DFDE8F-B94B-EDF0-4AC2-971FEB6AFB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5253" y="2214110"/>
            <a:ext cx="3027607" cy="2473421"/>
          </a:xfrm>
          <a:prstGeom prst="rect">
            <a:avLst/>
          </a:prstGeom>
        </p:spPr>
      </p:pic>
      <p:sp>
        <p:nvSpPr>
          <p:cNvPr id="17" name="ZoneTexte 16">
            <a:extLst>
              <a:ext uri="{FF2B5EF4-FFF2-40B4-BE49-F238E27FC236}">
                <a16:creationId xmlns:a16="http://schemas.microsoft.com/office/drawing/2014/main" id="{D6C5EB15-98F1-0D26-14E7-DC47B004524F}"/>
              </a:ext>
            </a:extLst>
          </p:cNvPr>
          <p:cNvSpPr txBox="1"/>
          <p:nvPr/>
        </p:nvSpPr>
        <p:spPr>
          <a:xfrm>
            <a:off x="3913241" y="4691010"/>
            <a:ext cx="32446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fr-FR" sz="1400" dirty="0">
                <a:latin typeface="Calibri" panose="020F0502020204030204" pitchFamily="34" charset="0"/>
              </a:rPr>
              <a:t>Implémentation fonctionnalité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58E65192-A40C-AF50-4BC2-0737B44788A0}"/>
              </a:ext>
            </a:extLst>
          </p:cNvPr>
          <p:cNvSpPr txBox="1"/>
          <p:nvPr/>
        </p:nvSpPr>
        <p:spPr>
          <a:xfrm>
            <a:off x="7888215" y="4704151"/>
            <a:ext cx="32446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fr-FR" sz="1400" dirty="0">
                <a:latin typeface="Calibri" panose="020F0502020204030204" pitchFamily="34" charset="0"/>
              </a:rPr>
              <a:t>Mis à jour fonctionnalité</a:t>
            </a: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2BB75A6D-C331-6D25-1D50-CC18B072D80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96053" y="2134827"/>
            <a:ext cx="2552704" cy="2552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1607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AF11F-8B6C-FE5A-BB7F-7C2B3BB6F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2E794294-DD34-13C4-EDF4-E1277CD86B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fr-FR" dirty="0">
                <a:latin typeface="+mn-lt"/>
              </a:rPr>
              <a:t>Contexte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F104E688-B241-C869-600F-9B6BF1D714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3944" y="1527586"/>
            <a:ext cx="10661495" cy="4995362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fr-FR" sz="28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fr-FR" sz="28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fr-FR" sz="28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fr-FR" sz="2800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94522B82-CD6A-6F03-800B-821BE88FED5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3944" y="2815611"/>
            <a:ext cx="2883433" cy="1880989"/>
          </a:xfrm>
          <a:prstGeom prst="rect">
            <a:avLst/>
          </a:prstGeom>
        </p:spPr>
      </p:pic>
      <p:sp>
        <p:nvSpPr>
          <p:cNvPr id="4" name="Flèche droite 10">
            <a:extLst>
              <a:ext uri="{FF2B5EF4-FFF2-40B4-BE49-F238E27FC236}">
                <a16:creationId xmlns:a16="http://schemas.microsoft.com/office/drawing/2014/main" id="{80A44029-5CDC-E6AC-20B8-BA478AA8A625}"/>
              </a:ext>
            </a:extLst>
          </p:cNvPr>
          <p:cNvSpPr/>
          <p:nvPr/>
        </p:nvSpPr>
        <p:spPr>
          <a:xfrm rot="18118686" flipV="1">
            <a:off x="759568" y="5396535"/>
            <a:ext cx="535914" cy="308975"/>
          </a:xfrm>
          <a:prstGeom prst="rightArrow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E2739B7A-7C92-43E2-A977-CE48D5484574}"/>
              </a:ext>
            </a:extLst>
          </p:cNvPr>
          <p:cNvSpPr txBox="1"/>
          <p:nvPr/>
        </p:nvSpPr>
        <p:spPr>
          <a:xfrm>
            <a:off x="-58783" y="1302314"/>
            <a:ext cx="34442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u="sng" dirty="0"/>
              <a:t>Problématique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0380D6D-6E8C-4B23-92C6-6D10D562CF83}"/>
              </a:ext>
            </a:extLst>
          </p:cNvPr>
          <p:cNvSpPr txBox="1"/>
          <p:nvPr/>
        </p:nvSpPr>
        <p:spPr>
          <a:xfrm>
            <a:off x="140813" y="2230272"/>
            <a:ext cx="32446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fr-FR" sz="1400" dirty="0">
                <a:latin typeface="Calibri" panose="020F0502020204030204" pitchFamily="34" charset="0"/>
              </a:rPr>
              <a:t>Suivi des missions complexe et système non automatisé</a:t>
            </a:r>
          </a:p>
        </p:txBody>
      </p:sp>
    </p:spTree>
    <p:extLst>
      <p:ext uri="{BB962C8B-B14F-4D97-AF65-F5344CB8AC3E}">
        <p14:creationId xmlns:p14="http://schemas.microsoft.com/office/powerpoint/2010/main" val="31236724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CEBD6-9EF7-3E7B-4372-AAE7CE052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CBAF9BFB-241E-D146-1806-54AB3360B6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fr-FR" dirty="0">
                <a:latin typeface="+mn-lt"/>
              </a:rPr>
              <a:t>Contexte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3324DA1F-059C-3405-5229-1099951A59E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3944" y="1527586"/>
            <a:ext cx="10661495" cy="4995362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fr-FR" sz="28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fr-FR" sz="28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fr-FR" sz="28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fr-FR" sz="2800" dirty="0"/>
          </a:p>
        </p:txBody>
      </p:sp>
      <p:sp>
        <p:nvSpPr>
          <p:cNvPr id="5" name="Flèche droite 10">
            <a:extLst>
              <a:ext uri="{FF2B5EF4-FFF2-40B4-BE49-F238E27FC236}">
                <a16:creationId xmlns:a16="http://schemas.microsoft.com/office/drawing/2014/main" id="{FC59D8F7-E395-0E78-5502-1EE834716153}"/>
              </a:ext>
            </a:extLst>
          </p:cNvPr>
          <p:cNvSpPr/>
          <p:nvPr/>
        </p:nvSpPr>
        <p:spPr>
          <a:xfrm rot="18118686" flipV="1">
            <a:off x="4270391" y="6119634"/>
            <a:ext cx="535914" cy="308975"/>
          </a:xfrm>
          <a:prstGeom prst="rightArrow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AF47875E-02CD-44E8-9EE3-A7D3A43AFA5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3944" y="2815611"/>
            <a:ext cx="2883433" cy="1880989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46474553-2264-486B-ABE8-9DAF01CBE61A}"/>
              </a:ext>
            </a:extLst>
          </p:cNvPr>
          <p:cNvSpPr txBox="1"/>
          <p:nvPr/>
        </p:nvSpPr>
        <p:spPr>
          <a:xfrm>
            <a:off x="-58783" y="1302314"/>
            <a:ext cx="34442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u="sng" dirty="0"/>
              <a:t>Problématique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FA68D0A6-FD73-4A0C-BBBF-2F27C77368D1}"/>
              </a:ext>
            </a:extLst>
          </p:cNvPr>
          <p:cNvSpPr txBox="1"/>
          <p:nvPr/>
        </p:nvSpPr>
        <p:spPr>
          <a:xfrm>
            <a:off x="140813" y="2230272"/>
            <a:ext cx="32446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fr-FR" sz="1400" dirty="0">
                <a:latin typeface="Calibri" panose="020F0502020204030204" pitchFamily="34" charset="0"/>
              </a:rPr>
              <a:t>Suivi des missions complexe et système non automatisé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6AA35622-1A6F-49C4-A32F-4E5F2A247FEC}"/>
              </a:ext>
            </a:extLst>
          </p:cNvPr>
          <p:cNvSpPr txBox="1"/>
          <p:nvPr/>
        </p:nvSpPr>
        <p:spPr>
          <a:xfrm>
            <a:off x="4151762" y="2753492"/>
            <a:ext cx="32446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fr-FR" sz="1400" dirty="0">
                <a:latin typeface="Calibri" panose="020F0502020204030204" pitchFamily="34" charset="0"/>
              </a:rPr>
              <a:t>Difficultés de coordination entre les services</a:t>
            </a:r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4FC27B81-6B8C-4D29-94AC-243403ADF5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54291" y="3530646"/>
            <a:ext cx="3293187" cy="2195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4459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4EFC2-A48A-3292-5E62-3A5FC1C68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956F59B0-9F19-7479-3FE6-AE51BE35BD8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fr-FR" dirty="0">
                <a:latin typeface="+mn-lt"/>
              </a:rPr>
              <a:t>Contexte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FC60E83E-406F-23F6-334B-80DCBD5DD9C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3944" y="1527586"/>
            <a:ext cx="10661495" cy="4995362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fr-FR" sz="28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fr-FR" sz="28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fr-FR" sz="28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fr-FR" sz="2800" dirty="0"/>
          </a:p>
        </p:txBody>
      </p:sp>
      <p:sp>
        <p:nvSpPr>
          <p:cNvPr id="4" name="Flèche droite 10">
            <a:extLst>
              <a:ext uri="{FF2B5EF4-FFF2-40B4-BE49-F238E27FC236}">
                <a16:creationId xmlns:a16="http://schemas.microsoft.com/office/drawing/2014/main" id="{D9790C09-9484-6AA2-4F60-22BB147D1C5F}"/>
              </a:ext>
            </a:extLst>
          </p:cNvPr>
          <p:cNvSpPr/>
          <p:nvPr/>
        </p:nvSpPr>
        <p:spPr>
          <a:xfrm rot="18118686" flipV="1">
            <a:off x="8612801" y="4812952"/>
            <a:ext cx="535914" cy="308975"/>
          </a:xfrm>
          <a:prstGeom prst="rightArrow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EA7E962A-3BFC-6A6F-DFE3-B259C21F8B5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33338" y="2758353"/>
            <a:ext cx="2196332" cy="2196332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AC0C8DC3-39D2-42F8-B09C-99780F56F8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54291" y="3530646"/>
            <a:ext cx="3293187" cy="2195458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75283F60-A541-48CC-9FC7-DCA009640C1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3944" y="2815611"/>
            <a:ext cx="2883433" cy="1880989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2871E0EC-C294-4360-BB51-483B8C2E9FBA}"/>
              </a:ext>
            </a:extLst>
          </p:cNvPr>
          <p:cNvSpPr txBox="1"/>
          <p:nvPr/>
        </p:nvSpPr>
        <p:spPr>
          <a:xfrm>
            <a:off x="140813" y="2230272"/>
            <a:ext cx="32446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fr-FR" sz="1400" dirty="0">
                <a:latin typeface="Calibri" panose="020F0502020204030204" pitchFamily="34" charset="0"/>
              </a:rPr>
              <a:t>Suivi des missions complexe et système non automatisé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804B621A-15D1-49A9-8CBE-A561F8EED69F}"/>
              </a:ext>
            </a:extLst>
          </p:cNvPr>
          <p:cNvSpPr txBox="1"/>
          <p:nvPr/>
        </p:nvSpPr>
        <p:spPr>
          <a:xfrm>
            <a:off x="4524812" y="2733999"/>
            <a:ext cx="32446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fr-FR" sz="1400" dirty="0">
                <a:latin typeface="Calibri" panose="020F0502020204030204" pitchFamily="34" charset="0"/>
              </a:rPr>
              <a:t>Difficultés de coordination entre les services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7499C7DD-1573-4C21-B139-9269974A8B7D}"/>
              </a:ext>
            </a:extLst>
          </p:cNvPr>
          <p:cNvSpPr txBox="1"/>
          <p:nvPr/>
        </p:nvSpPr>
        <p:spPr>
          <a:xfrm>
            <a:off x="8320957" y="2292391"/>
            <a:ext cx="32446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fr-FR" sz="1400" dirty="0">
                <a:latin typeface="Calibri" panose="020F0502020204030204" pitchFamily="34" charset="0"/>
              </a:rPr>
              <a:t>Retards fréquents dans le traitement et le paiement 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2B6D268A-2A8D-41E8-AC5A-CB118B1606F4}"/>
              </a:ext>
            </a:extLst>
          </p:cNvPr>
          <p:cNvSpPr txBox="1"/>
          <p:nvPr/>
        </p:nvSpPr>
        <p:spPr>
          <a:xfrm>
            <a:off x="-58783" y="1302314"/>
            <a:ext cx="34442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u="sng" dirty="0"/>
              <a:t>Problématique</a:t>
            </a:r>
          </a:p>
        </p:txBody>
      </p:sp>
    </p:spTree>
    <p:extLst>
      <p:ext uri="{BB962C8B-B14F-4D97-AF65-F5344CB8AC3E}">
        <p14:creationId xmlns:p14="http://schemas.microsoft.com/office/powerpoint/2010/main" val="769570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38C7F-262F-CD77-A349-EA38289CB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2C143201-0514-86E7-BDA8-DC282692559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fr-FR" dirty="0">
                <a:latin typeface="+mn-lt"/>
              </a:rPr>
              <a:t>OBJECTIFS</a:t>
            </a:r>
            <a:r>
              <a:rPr lang="fr-FR" dirty="0"/>
              <a:t> DU PROJET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CA18B7C5-3F5E-4C10-426C-AF2170893A0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56216" y="1527586"/>
            <a:ext cx="10661495" cy="4995362"/>
          </a:xfrm>
        </p:spPr>
        <p:txBody>
          <a:bodyPr>
            <a:normAutofit/>
          </a:bodyPr>
          <a:lstStyle/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CA" sz="2000" dirty="0">
                <a:latin typeface="+mn-lt"/>
              </a:rPr>
              <a:t>Automatiser la gestion des missions</a:t>
            </a:r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CA" sz="2000" dirty="0">
                <a:latin typeface="+mn-lt"/>
              </a:rPr>
              <a:t>Optimiser le calcul et le paiement des indemnités</a:t>
            </a:r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CA" sz="2000" dirty="0">
                <a:latin typeface="+mn-lt"/>
              </a:rPr>
              <a:t>Améliorer la visibilité et la transparence</a:t>
            </a:r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CA" sz="2000" dirty="0">
                <a:latin typeface="+mn-lt"/>
              </a:rPr>
              <a:t>Réduire les erreurs et les délais de traitement</a:t>
            </a:r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CA" sz="2000" dirty="0">
                <a:latin typeface="+mn-lt"/>
              </a:rPr>
              <a:t>Faciliter la génération et le partage de documents officiels</a:t>
            </a:r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CA" sz="2000" dirty="0">
                <a:latin typeface="+mn-lt"/>
              </a:rPr>
              <a:t>Notifier automatiquement les acteurs concernés </a:t>
            </a:r>
            <a:endParaRPr lang="fr-FR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443797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1CA7E-CAE9-1650-B5C0-7F796EF65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BB5CB610-94B2-1579-06E7-14E0C0757B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fr-FR" dirty="0">
                <a:latin typeface="Calibri" panose="020F0502020204030204" pitchFamily="34" charset="0"/>
                <a:cs typeface="Times New Roman" panose="02020603050405020304" pitchFamily="18" charset="0"/>
              </a:rPr>
              <a:t>RÉALISATION DU PROJET</a:t>
            </a:r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7DB659BE-B69E-BAE6-7E5A-BC279C097A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91400" y="2248537"/>
            <a:ext cx="6444551" cy="3638052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401B8FB4-5024-49F4-A009-F5287C8E0722}"/>
              </a:ext>
            </a:extLst>
          </p:cNvPr>
          <p:cNvSpPr txBox="1"/>
          <p:nvPr/>
        </p:nvSpPr>
        <p:spPr>
          <a:xfrm>
            <a:off x="-58783" y="1302314"/>
            <a:ext cx="34442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u="sng" dirty="0"/>
              <a:t>Architecture</a:t>
            </a:r>
          </a:p>
        </p:txBody>
      </p:sp>
    </p:spTree>
    <p:extLst>
      <p:ext uri="{BB962C8B-B14F-4D97-AF65-F5344CB8AC3E}">
        <p14:creationId xmlns:p14="http://schemas.microsoft.com/office/powerpoint/2010/main" val="7649229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23AA7-098E-4E5C-1175-050D186AA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E51CBC95-19F8-1B5C-2718-4E219E5E47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fr-FR" dirty="0">
                <a:latin typeface="Calibri" panose="020F0502020204030204" pitchFamily="34" charset="0"/>
                <a:cs typeface="Times New Roman" panose="02020603050405020304" pitchFamily="18" charset="0"/>
              </a:rPr>
              <a:t>RÉALISATION DU PROJET</a:t>
            </a:r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03F80E4B-94FB-D4DD-AB8C-E55DA621E7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4827" y="2058662"/>
            <a:ext cx="1378256" cy="1226648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B43483AF-90D9-697C-3FF5-08EE1865085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08497" y="1870130"/>
            <a:ext cx="1603712" cy="1603712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2C42841C-1CBF-2142-114F-348E6CDD916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23829" y="1870130"/>
            <a:ext cx="2072268" cy="1380413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F103CB03-882B-ED5F-2C36-70C482B667BF}"/>
              </a:ext>
            </a:extLst>
          </p:cNvPr>
          <p:cNvSpPr txBox="1"/>
          <p:nvPr/>
        </p:nvSpPr>
        <p:spPr>
          <a:xfrm>
            <a:off x="108309" y="3547635"/>
            <a:ext cx="24998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>
                <a:latin typeface="Calibri" panose="020F0502020204030204" pitchFamily="34" charset="0"/>
              </a:rPr>
              <a:t>Côté Client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775E9AA-12DB-0738-DC21-3FAA58032594}"/>
              </a:ext>
            </a:extLst>
          </p:cNvPr>
          <p:cNvSpPr txBox="1"/>
          <p:nvPr/>
        </p:nvSpPr>
        <p:spPr>
          <a:xfrm>
            <a:off x="3010037" y="3583148"/>
            <a:ext cx="24998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>
                <a:latin typeface="Calibri" panose="020F0502020204030204" pitchFamily="34" charset="0"/>
              </a:rPr>
              <a:t>Côté serveur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FEEA37D3-704D-16AD-26BA-2BC4DFB3A36C}"/>
              </a:ext>
            </a:extLst>
          </p:cNvPr>
          <p:cNvSpPr txBox="1"/>
          <p:nvPr/>
        </p:nvSpPr>
        <p:spPr>
          <a:xfrm>
            <a:off x="6112285" y="3547635"/>
            <a:ext cx="24998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>
                <a:latin typeface="Calibri" panose="020F0502020204030204" pitchFamily="34" charset="0"/>
              </a:rPr>
              <a:t>Côté base de donnée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14EB1B8-8D42-4E9C-B1DF-5D239F4860AA}"/>
              </a:ext>
            </a:extLst>
          </p:cNvPr>
          <p:cNvSpPr txBox="1"/>
          <p:nvPr/>
        </p:nvSpPr>
        <p:spPr>
          <a:xfrm>
            <a:off x="-58783" y="1302314"/>
            <a:ext cx="34442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u="sng" dirty="0"/>
              <a:t>Technologies utilisées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A70F2510-3E5B-47EA-9F65-8FA3D7892EB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349093" y="2058662"/>
            <a:ext cx="2230729" cy="1251843"/>
          </a:xfrm>
          <a:prstGeom prst="rect">
            <a:avLst/>
          </a:prstGeom>
        </p:spPr>
      </p:pic>
      <p:sp>
        <p:nvSpPr>
          <p:cNvPr id="17" name="ZoneTexte 16">
            <a:extLst>
              <a:ext uri="{FF2B5EF4-FFF2-40B4-BE49-F238E27FC236}">
                <a16:creationId xmlns:a16="http://schemas.microsoft.com/office/drawing/2014/main" id="{41591574-6EDF-444D-80EB-917494964C00}"/>
              </a:ext>
            </a:extLst>
          </p:cNvPr>
          <p:cNvSpPr txBox="1"/>
          <p:nvPr/>
        </p:nvSpPr>
        <p:spPr>
          <a:xfrm>
            <a:off x="9214533" y="3547635"/>
            <a:ext cx="24998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/>
              <a:t>Gestion de version et collaboration</a:t>
            </a:r>
            <a:endParaRPr lang="fr-FR" sz="1400" b="1" dirty="0">
              <a:latin typeface="Calibri" panose="020F0502020204030204" pitchFamily="34" charset="0"/>
            </a:endParaRP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AD3750CC-23B2-4BF3-85D5-4BDD958FA76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66874" y="4504599"/>
            <a:ext cx="1251843" cy="1251843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1C370557-AD7B-4CD4-B45E-47691F0E7131}"/>
              </a:ext>
            </a:extLst>
          </p:cNvPr>
          <p:cNvSpPr txBox="1"/>
          <p:nvPr/>
        </p:nvSpPr>
        <p:spPr>
          <a:xfrm>
            <a:off x="242871" y="5993572"/>
            <a:ext cx="24998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/>
              <a:t>Planification et suivi de projet</a:t>
            </a:r>
            <a:endParaRPr lang="fr-FR" sz="1400" b="1" dirty="0">
              <a:latin typeface="Calibri" panose="020F0502020204030204" pitchFamily="34" charset="0"/>
            </a:endParaRP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EEBEDD0B-8BCF-4CE2-BC0E-1C17EFC1410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16783" y="4504599"/>
            <a:ext cx="1844821" cy="1251843"/>
          </a:xfrm>
          <a:prstGeom prst="rect">
            <a:avLst/>
          </a:prstGeom>
        </p:spPr>
      </p:pic>
      <p:sp>
        <p:nvSpPr>
          <p:cNvPr id="21" name="ZoneTexte 20">
            <a:extLst>
              <a:ext uri="{FF2B5EF4-FFF2-40B4-BE49-F238E27FC236}">
                <a16:creationId xmlns:a16="http://schemas.microsoft.com/office/drawing/2014/main" id="{EBCCC389-F05C-49C0-96B1-BCC82F4C7479}"/>
              </a:ext>
            </a:extLst>
          </p:cNvPr>
          <p:cNvSpPr txBox="1"/>
          <p:nvPr/>
        </p:nvSpPr>
        <p:spPr>
          <a:xfrm>
            <a:off x="3089269" y="5993572"/>
            <a:ext cx="24998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/>
              <a:t>Conception et modélisation de la base de données (MCD)</a:t>
            </a:r>
            <a:endParaRPr lang="fr-FR" sz="14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38772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9203D9-E6D2-ADFF-EE44-05433E5E4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7D6E3C5E-4B8D-147D-B3CF-D5B6D769F75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fr-FR" dirty="0">
                <a:latin typeface="Calibri" panose="020F0502020204030204" pitchFamily="34" charset="0"/>
                <a:cs typeface="Times New Roman" panose="02020603050405020304" pitchFamily="18" charset="0"/>
              </a:rPr>
              <a:t>DÉMONSTRATION</a:t>
            </a:r>
            <a:endParaRPr lang="fr-FR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74E825F3-9BCE-17C2-D475-39206B6054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774" y="2084832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608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3D96E-49B8-E09E-2F40-ADB8270E6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B5A55050-07C7-7E22-BB7D-260AE4F1C0E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fr-FR" dirty="0">
                <a:latin typeface="Calibri" panose="020F0502020204030204" pitchFamily="34" charset="0"/>
                <a:cs typeface="Times New Roman" panose="02020603050405020304" pitchFamily="18" charset="0"/>
              </a:rPr>
              <a:t>BILAN</a:t>
            </a:r>
            <a:endParaRPr lang="fr-FR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D1EA072-3429-7477-BBC6-C66C45FE59AE}"/>
              </a:ext>
            </a:extLst>
          </p:cNvPr>
          <p:cNvSpPr txBox="1"/>
          <p:nvPr/>
        </p:nvSpPr>
        <p:spPr>
          <a:xfrm>
            <a:off x="227083" y="2752079"/>
            <a:ext cx="490662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sz="2000" dirty="0"/>
              <a:t>Missions centralisées et automatisées</a:t>
            </a:r>
            <a:endParaRPr lang="fr-FR" sz="20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sz="2000" dirty="0"/>
              <a:t>Processus simplifiés et erreurs minimisées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sz="2000" dirty="0"/>
              <a:t>Coordination optimisée entre les services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sz="2000" dirty="0"/>
              <a:t>Visibilité améliorée sur l’état et les coûts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sz="2000" dirty="0"/>
              <a:t>Retards réduits et opérations sécurisées</a:t>
            </a:r>
            <a:endParaRPr lang="fr-FR" sz="20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fr-FR" sz="20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0AF57F2-1986-287C-499C-BA0C40C9A8DF}"/>
              </a:ext>
            </a:extLst>
          </p:cNvPr>
          <p:cNvSpPr txBox="1"/>
          <p:nvPr/>
        </p:nvSpPr>
        <p:spPr>
          <a:xfrm>
            <a:off x="5797707" y="1991456"/>
            <a:ext cx="6394293" cy="37379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000" dirty="0"/>
              <a:t>Mise en pratique des connaissances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000" dirty="0"/>
              <a:t>Développement de l’application de gestion des missions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000" dirty="0"/>
              <a:t>Correction d’une plateforme de gestion de la performance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000" dirty="0"/>
              <a:t>Contribution au tableau de bord KPI (budget, RH, GED, suivi des sanctions)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000" dirty="0"/>
              <a:t>Compétences en Business Intelligence et optimisation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000" dirty="0"/>
              <a:t>Autonomie, initiative et gestion des priorités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47DF3955-C360-CB9F-D8AF-C4232F2648D0}"/>
              </a:ext>
            </a:extLst>
          </p:cNvPr>
          <p:cNvSpPr txBox="1"/>
          <p:nvPr/>
        </p:nvSpPr>
        <p:spPr>
          <a:xfrm>
            <a:off x="-169416" y="1484888"/>
            <a:ext cx="3444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u="sng" dirty="0"/>
              <a:t>POUR L’ENTREPRISE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F1C36AA9-B4DB-1E5F-A3F1-4DBF5919A91F}"/>
              </a:ext>
            </a:extLst>
          </p:cNvPr>
          <p:cNvSpPr txBox="1"/>
          <p:nvPr/>
        </p:nvSpPr>
        <p:spPr>
          <a:xfrm>
            <a:off x="4724388" y="1412661"/>
            <a:ext cx="3723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u="sng" dirty="0"/>
              <a:t>PERSONNEL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85D0DB8E-14BE-42D6-B71D-2EBFAC4B3460}"/>
              </a:ext>
            </a:extLst>
          </p:cNvPr>
          <p:cNvSpPr txBox="1"/>
          <p:nvPr/>
        </p:nvSpPr>
        <p:spPr>
          <a:xfrm>
            <a:off x="-273976" y="1951486"/>
            <a:ext cx="32446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fr-FR" sz="1400" dirty="0"/>
              <a:t>Bilan après déploiement de la plateforme</a:t>
            </a:r>
            <a:endParaRPr lang="fr-FR" sz="14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130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E8339-4320-DA45-A033-CD4C594A4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D891AD47-A69F-BF65-089D-0118711E7C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fr-FR" dirty="0">
                <a:latin typeface="Calibri" panose="020F0502020204030204" pitchFamily="34" charset="0"/>
                <a:cs typeface="Times New Roman" panose="02020603050405020304" pitchFamily="18" charset="0"/>
              </a:rPr>
              <a:t>CONCLUSION</a:t>
            </a:r>
            <a:endParaRPr lang="fr-FR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363D22D-0A69-E863-7E73-4DA3BF5B7662}"/>
              </a:ext>
            </a:extLst>
          </p:cNvPr>
          <p:cNvSpPr txBox="1"/>
          <p:nvPr/>
        </p:nvSpPr>
        <p:spPr>
          <a:xfrm>
            <a:off x="1932040" y="2376054"/>
            <a:ext cx="992393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Bénéfices du stage</a:t>
            </a:r>
          </a:p>
          <a:p>
            <a:endParaRPr lang="fr-FR" sz="24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fr-FR" sz="2400" dirty="0"/>
              <a:t>Résultats clés</a:t>
            </a:r>
            <a:endParaRPr lang="fr-FR" sz="24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fr-FR" sz="24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fr-FR" sz="2400" dirty="0"/>
              <a:t>Acquis et perspectives</a:t>
            </a:r>
            <a:endParaRPr lang="fr-FR" sz="24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391A3DFC-B217-FA0B-1232-9C8BBF6F2B2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1394" y="2400617"/>
            <a:ext cx="436389" cy="415969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CC9545CF-1C76-023E-D975-EA92C7448B7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2246" y="3116324"/>
            <a:ext cx="436389" cy="415969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B5B180AF-A96B-3005-74C1-656EAD358EB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7530" y="3899077"/>
            <a:ext cx="436389" cy="415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5611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10628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4404</TotalTime>
  <Words>994</Words>
  <Application>Microsoft Office PowerPoint</Application>
  <PresentationFormat>Grand écran</PresentationFormat>
  <Paragraphs>140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Calibri Light</vt:lpstr>
      <vt:lpstr>Century Gothic</vt:lpstr>
      <vt:lpstr>Times New Roman</vt:lpstr>
      <vt:lpstr>Wingdings</vt:lpstr>
      <vt:lpstr>Office Theme</vt:lpstr>
      <vt:lpstr>  Digitalisation du processus de gestion des missions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OPTIMISATION DE GESTION DE SCOLARITé      « MONTESSORI PRESCHOOL »</dc:title>
  <dc:creator>Compte Microsoft</dc:creator>
  <cp:lastModifiedBy>Miantsafitia RAKOTOARIMANANA (DRH)</cp:lastModifiedBy>
  <cp:revision>488</cp:revision>
  <dcterms:created xsi:type="dcterms:W3CDTF">2022-12-03T17:32:06Z</dcterms:created>
  <dcterms:modified xsi:type="dcterms:W3CDTF">2025-11-17T04:30:15Z</dcterms:modified>
</cp:coreProperties>
</file>